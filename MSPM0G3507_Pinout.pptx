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57" r:id="rId5"/>
    <p:sldId id="25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2406D-90E5-E6FB-F2F5-CF7BA3616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84C5B6-B54A-21BF-512F-376A25980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BFF0A3-B990-1C25-E674-5B63B120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C7DF42-0860-0F1B-C4B7-252B6E29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4E2B45-AAF5-287C-F566-632D287E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68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594DA-E8E1-117A-2547-A06F1B66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EBFB36-82C9-B7CB-69FE-2AC6D1233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5ED23-ACA7-EF13-9D26-ACF2C7CE1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0C0668-4B72-AEA0-813D-6DE1C306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81B68A-6FD6-2617-1ECA-8EBF79911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606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0685C9-6245-516F-5690-AD5A6CBA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5A430E-91C2-126B-FAC2-44321D46D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A96FAB-C23E-0D3F-00E9-335037348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D7F6E7-64E5-2E85-762C-7FC949C3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D5F2AE-8777-5B58-6888-0215E1D3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185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D1D4F-04DB-DA1A-877F-99BFCCF6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BC24D0-0E71-FF84-40DA-BED42FF8D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6A8DAC-B609-AA31-7F97-1EF265B84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E0D2E7-A8A8-7F22-776A-13C1F5A91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6F5FF4-184B-3C56-5C22-CD0E40B91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BF8D26-53AC-A947-DB3F-53B9A37C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74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3B7042-E3EB-67C6-BBAB-E5D425C55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4E778C-5A23-3968-F0FF-7FDB7D43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78FEB9-A43D-9F3C-8781-B44AF68A5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A09DDAC-A4D5-475A-F429-D0C7206FD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3F4CA8-B455-0FB3-6B7B-B62F9C0A0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B7217F-E6ED-EA3F-732E-7FF1E795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9EF05B-C389-4816-04AD-FA8D2B55C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34B380-12CD-5259-3A53-33BE6E76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08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30B2F-70B1-1705-B6BF-13D5B8F2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2EBD33-45EA-5248-84B6-86E7CB03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6EDB3F-97C0-5D9A-C1F4-92E57575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C9D1BA-61C7-F69C-B1E8-943E0691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190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6ABA0C-A678-1618-AC82-864D9740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F963DE-F8F3-9140-0A4E-0E625C2F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55218E-552B-2041-5210-BBBC0446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99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515E1-EF6C-DD6B-50E4-421692A9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A6174-0A7C-4FC5-AE78-C5F6A13B4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C16737-5173-177E-85B0-012D23053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05C8E1-03BA-A20B-A24D-A22086C67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2EC827-23B2-1AA4-02CF-38733FA83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AD22DD-DA69-C850-4053-8361D7B3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4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373BF-53DE-1916-7966-F959DAA41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60ADFA-DC87-F9E3-7BE9-A5D6DB095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8A16AE-11FB-E890-06BF-5CA0F7EF1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10FB24-654B-BA45-3423-E10CF559B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8D50E3-8458-8B68-ED3F-0F7226743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20213D-07C8-20FA-6571-D7796A26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93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0A1E0-BD9E-53B9-4F44-4EA1C41C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889B45-88B4-DD73-D27B-B47BAEB5E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C1AB37-FE54-8B1A-79A3-B1B786B5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35C5A9-F516-8A6F-58CF-6CA61F36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021B3E-A2A4-6B7B-38E7-06FF997E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73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93D667-6325-BE78-2A7E-A68CFD2B9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910BB7-537B-FB1D-08C4-3276BE587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75929B-EA0A-A9E5-5E9F-EB7EB0FDC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BA5F0D-FF0B-99F9-546E-50D1D47E6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011398-6079-9BAC-1185-95226889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52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4D991E-385A-FB64-FF48-4C6EB1BB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085CA0-15AB-6318-E0FB-96A61DF5D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6F8176-1B84-BC70-07EA-3B64B4A5E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1FB26-7034-41A6-B12B-D86780AAC9E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4B9806-3015-E4CF-8E4F-568FF944D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3020E-94F1-1DF1-7D20-52E14FBBC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822B7-2C26-4F79-8E9E-25C705CB2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75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873B26-9CC7-F2B9-6732-48BABD6CD2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11B3DA-E076-9E35-AF76-18B0545292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B1C39-A6C7-9E0B-648E-1266715532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940928-2C29-F649-6DC8-955A406596D0}"/>
              </a:ext>
            </a:extLst>
          </p:cNvPr>
          <p:cNvSpPr txBox="1"/>
          <p:nvPr/>
        </p:nvSpPr>
        <p:spPr>
          <a:xfrm>
            <a:off x="381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76E600"/>
                </a:solidFill>
                <a:latin typeface="Microsoft YaHei" panose="020B0503020204020204" pitchFamily="34" charset="-122"/>
              </a:rPr>
              <a:t>Full Pin List (by port)</a:t>
            </a:r>
            <a:endParaRPr lang="zh-CN" altLang="en-US" sz="2000" b="1">
              <a:solidFill>
                <a:srgbClr val="76E600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B76F0F6-8254-DA1A-33CE-F179FC120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997583"/>
              </p:ext>
            </p:extLst>
          </p:nvPr>
        </p:nvGraphicFramePr>
        <p:xfrm>
          <a:off x="190500" y="698499"/>
          <a:ext cx="5016500" cy="71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1314022182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66041802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Function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6962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Gyro SCL (bit-bang I2C)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73127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Gyro SDA (bit-bang I2C)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7077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PA7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F_L motor IN1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0146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PA8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Color sensor LEFT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44066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PA9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Color sensor RIGHT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36082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UART0 TX -&gt; Zigbee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98222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UART0 RX &lt;- Zigbee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77462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F_L motor IN2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8454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PA13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F_R motor IN1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17547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PA14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B_L motor IN2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42628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PA15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F_L motor PWM TIMA0_CH2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41298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PA16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F_R motor IN2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4015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UART2 TX -&gt; MaixCAM2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37911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PA23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B_R motor PWM TIMA0_CH3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19015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PA24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UART2 RX &lt;- MaixCAM2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32928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PA25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Encoder L_B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78968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PA26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Encoder R_B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5645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PA28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OLED I2C0 SDA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4871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PA31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OLED I2C0 SCL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46610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C968DB4-A14A-019A-592E-A32DED5EC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755796"/>
              </p:ext>
            </p:extLst>
          </p:nvPr>
        </p:nvGraphicFramePr>
        <p:xfrm>
          <a:off x="5715000" y="698500"/>
          <a:ext cx="4254500" cy="462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58293406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57079834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40A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Function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40A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7585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PB7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Grayscale sensor CLK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5251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PB8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Grayscale sensor DAT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80549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PB9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B_L motor PWM TIMA0_CH1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62726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PB13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B_R motor IN1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868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PB14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F_R motor PWM TIMA0_CH0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01883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PB15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B_R motor IN2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7942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PB16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B_L motor IN1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06593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PB17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KEY1 button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76474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PB18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KEY2 button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72952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PB19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KEY3 button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14198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PB24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Encoder L_A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75502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PB25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Encoder R_A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9127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BB66E6FD-AF6D-224F-CF4A-1603735B628B}"/>
              </a:ext>
            </a:extLst>
          </p:cNvPr>
          <p:cNvSpPr txBox="1"/>
          <p:nvPr/>
        </p:nvSpPr>
        <p:spPr>
          <a:xfrm>
            <a:off x="5715000" y="5842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CCCCCC"/>
                </a:solidFill>
                <a:latin typeface="Microsoft YaHei" panose="020B0503020204020204" pitchFamily="34" charset="-122"/>
              </a:rPr>
              <a:t>PA:20 . PB:12 . Total:32 (28 assigned)</a:t>
            </a:r>
            <a:endParaRPr lang="zh-CN" altLang="en-US" sz="1200">
              <a:solidFill>
                <a:srgbClr val="CCCCCC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870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2570C-08BB-2220-D163-8948E8F06F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5B6DB8-1909-4C06-B54C-80EC12790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8E7E29-F0A6-9155-F6EB-2269FAE5F2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F7F342-EDBB-2161-92B0-77CB82BB0909}"/>
              </a:ext>
            </a:extLst>
          </p:cNvPr>
          <p:cNvSpPr txBox="1"/>
          <p:nvPr/>
        </p:nvSpPr>
        <p:spPr>
          <a:xfrm>
            <a:off x="381000" y="190500"/>
            <a:ext cx="1143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200" b="1">
                <a:solidFill>
                  <a:srgbClr val="76E600"/>
                </a:solidFill>
                <a:latin typeface="Microsoft YaHei" panose="020B0503020204020204" pitchFamily="34" charset="-122"/>
              </a:rPr>
              <a:t>Communication Interfaces</a:t>
            </a:r>
            <a:endParaRPr lang="zh-CN" altLang="en-US" sz="2200" b="1">
              <a:solidFill>
                <a:srgbClr val="76E600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F4EDA4C-BD56-495E-C76D-5EC09BA41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615935"/>
              </p:ext>
            </p:extLst>
          </p:nvPr>
        </p:nvGraphicFramePr>
        <p:xfrm>
          <a:off x="381000" y="889000"/>
          <a:ext cx="8382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46976389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10174213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9279041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6390229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6173039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0280310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Interface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TX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RX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Usage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Baud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Protocol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41082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UART0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Zigbee remote/status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9600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text frames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458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UART2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PA24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MaixCAM2 ball detect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115200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0xAA 0x55 9-byte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02887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I2C0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PA31(SCL)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PA28(SDA)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OLED 0.96in 4-line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400k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HW I2C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20591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GPIO I2C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PA0(SCL)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PA1(SDA)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JY61P gyro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~100k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bit-bang I2C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361617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C61DA00-B4D8-FF5C-6C3D-410BD36985E4}"/>
              </a:ext>
            </a:extLst>
          </p:cNvPr>
          <p:cNvSpPr txBox="1"/>
          <p:nvPr/>
        </p:nvSpPr>
        <p:spPr>
          <a:xfrm>
            <a:off x="381000" y="35560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FFD200"/>
                </a:solidFill>
                <a:latin typeface="Microsoft YaHei" panose="020B0503020204020204" pitchFamily="34" charset="-122"/>
              </a:rPr>
              <a:t>Zigbee Data Format</a:t>
            </a:r>
            <a:endParaRPr lang="zh-CN" altLang="en-US" sz="1600" b="1">
              <a:solidFill>
                <a:srgbClr val="FFD2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DD813E-5C66-DCA5-4F49-2C4636355824}"/>
              </a:ext>
            </a:extLst>
          </p:cNvPr>
          <p:cNvSpPr txBox="1"/>
          <p:nvPr/>
        </p:nvSpPr>
        <p:spPr>
          <a:xfrm>
            <a:off x="381000" y="4000500"/>
            <a:ext cx="1143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CCCCCC"/>
                </a:solidFill>
                <a:latin typeface="Microsoft YaHei" panose="020B0503020204020204" pitchFamily="34" charset="-122"/>
              </a:rPr>
              <a:t>Heartbeat: HB T:&lt;tx&gt; R:&lt;rx&gt; E:&lt;echo&gt;  (every 1s)
Echo mode: receive any byte -&gt; send back unchanged
Old protocol: Z&lt;tx&gt; S&lt;state&gt; D&lt;dist&gt; Y&lt;yaw&gt;</a:t>
            </a:r>
            <a:endParaRPr lang="zh-CN" altLang="en-US" sz="1200">
              <a:solidFill>
                <a:srgbClr val="CCCC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E4BA86-BE37-A5FD-D17F-DC88AADBE796}"/>
              </a:ext>
            </a:extLst>
          </p:cNvPr>
          <p:cNvSpPr txBox="1"/>
          <p:nvPr/>
        </p:nvSpPr>
        <p:spPr>
          <a:xfrm>
            <a:off x="381000" y="5588000"/>
            <a:ext cx="1143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>
                <a:solidFill>
                  <a:srgbClr val="CCCCCC"/>
                </a:solidFill>
                <a:latin typeface="Microsoft YaHei" panose="020B0503020204020204" pitchFamily="34" charset="-122"/>
              </a:rPr>
              <a:t>Resources: 28 GPIO . TIMA0 4/4ch . I2C0 1/1 . UART0+UART2 2/4 . SW I2C 1</a:t>
            </a:r>
            <a:endParaRPr lang="zh-CN" altLang="en-US" sz="1300">
              <a:solidFill>
                <a:srgbClr val="CCCCCC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306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9E68E-4A47-5369-36EE-B14A16E408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971BA2-58B0-3551-EAB7-D8B0D193D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3FBE88-3CCC-BD41-7139-B1026916C6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3EE4B7-D7FE-5F2B-26C9-A670564CD10D}"/>
              </a:ext>
            </a:extLst>
          </p:cNvPr>
          <p:cNvSpPr txBox="1"/>
          <p:nvPr/>
        </p:nvSpPr>
        <p:spPr>
          <a:xfrm>
            <a:off x="381000" y="190500"/>
            <a:ext cx="1143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200" b="1">
                <a:solidFill>
                  <a:srgbClr val="76E600"/>
                </a:solidFill>
                <a:latin typeface="Microsoft YaHei" panose="020B0503020204020204" pitchFamily="34" charset="-122"/>
              </a:rPr>
              <a:t>Sensors &amp; Encoders</a:t>
            </a:r>
            <a:endParaRPr lang="zh-CN" altLang="en-US" sz="2200" b="1">
              <a:solidFill>
                <a:srgbClr val="76E6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05A051-9B2A-65D3-170C-8CFBCE65CA2A}"/>
              </a:ext>
            </a:extLst>
          </p:cNvPr>
          <p:cNvSpPr txBox="1"/>
          <p:nvPr/>
        </p:nvSpPr>
        <p:spPr>
          <a:xfrm>
            <a:off x="381000" y="762000"/>
            <a:ext cx="254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FFD200"/>
                </a:solidFill>
                <a:latin typeface="Microsoft YaHei" panose="020B0503020204020204" pitchFamily="34" charset="-122"/>
              </a:rPr>
              <a:t>Encoders</a:t>
            </a:r>
            <a:endParaRPr lang="zh-CN" altLang="en-US" sz="1500" b="1">
              <a:solidFill>
                <a:srgbClr val="FFD200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82348CE-1913-CE85-64B2-44E108350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734675"/>
              </p:ext>
            </p:extLst>
          </p:nvPr>
        </p:nvGraphicFramePr>
        <p:xfrm>
          <a:off x="381000" y="1117600"/>
          <a:ext cx="4318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29165157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8359208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63782512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Signal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Pin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Note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299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L_A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PB24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50427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L_B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PA25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MM_PER_COUNT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11055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R_A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PB25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= 10.53 mm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7285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R_B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PA26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simple counting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33010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15E0A0C-A173-CC93-D4EC-572333E80414}"/>
              </a:ext>
            </a:extLst>
          </p:cNvPr>
          <p:cNvSpPr txBox="1"/>
          <p:nvPr/>
        </p:nvSpPr>
        <p:spPr>
          <a:xfrm>
            <a:off x="5207000" y="762000"/>
            <a:ext cx="254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40ABFF"/>
                </a:solidFill>
                <a:latin typeface="Microsoft YaHei" panose="020B0503020204020204" pitchFamily="34" charset="-122"/>
              </a:rPr>
              <a:t>Sensors</a:t>
            </a:r>
            <a:endParaRPr lang="zh-CN" altLang="en-US" sz="1500" b="1">
              <a:solidFill>
                <a:srgbClr val="40ABFF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CAAE961-3922-7494-0A80-9EADE814A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965074"/>
              </p:ext>
            </p:extLst>
          </p:nvPr>
        </p:nvGraphicFramePr>
        <p:xfrm>
          <a:off x="5207000" y="1117600"/>
          <a:ext cx="52070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19015957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60968129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211565466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Sensor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40A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Pin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40A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Description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40A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62516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Gray CLK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PB7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8ch grayscale serial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8483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Gray DAT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PB8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1=white line, 0=black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87034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Color LEFT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PA8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left trigger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3534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Color RIGHT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PA9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-&gt; stop+back+turn seq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19709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Gyro SCL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JY61P bit-bang I2C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42672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Gyro SDA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6-axis, addr 0x50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31320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C7F5971-2BE8-47B6-B8C6-D057E581C5E6}"/>
              </a:ext>
            </a:extLst>
          </p:cNvPr>
          <p:cNvSpPr txBox="1"/>
          <p:nvPr/>
        </p:nvSpPr>
        <p:spPr>
          <a:xfrm>
            <a:off x="381000" y="4445000"/>
            <a:ext cx="254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CCCCCC"/>
                </a:solidFill>
                <a:latin typeface="Microsoft YaHei" panose="020B0503020204020204" pitchFamily="34" charset="-122"/>
              </a:rPr>
              <a:t>Buttons</a:t>
            </a:r>
            <a:endParaRPr lang="zh-CN" altLang="en-US" sz="1500" b="1">
              <a:solidFill>
                <a:srgbClr val="CCCCCC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4488397-5BC8-28CF-D38C-41F2968B6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462422"/>
              </p:ext>
            </p:extLst>
          </p:nvPr>
        </p:nvGraphicFramePr>
        <p:xfrm>
          <a:off x="381000" y="4826000"/>
          <a:ext cx="2032000" cy="142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7400101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13212370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Key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Pin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485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KEY1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PB17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59503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KEY2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PB18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261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KEY3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PB19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796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76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FB264-E9C6-355C-FB66-A4196129B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5344-3026-903E-9805-F84C5D07B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416CD3-EF33-FF34-B9DF-8D4E58CCFD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52B489-6CCA-813C-C827-253EF0A82923}"/>
              </a:ext>
            </a:extLst>
          </p:cNvPr>
          <p:cNvSpPr txBox="1"/>
          <p:nvPr/>
        </p:nvSpPr>
        <p:spPr>
          <a:xfrm>
            <a:off x="381000" y="190500"/>
            <a:ext cx="1143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200" b="1">
                <a:solidFill>
                  <a:srgbClr val="76E600"/>
                </a:solidFill>
                <a:latin typeface="Microsoft YaHei" panose="020B0503020204020204" pitchFamily="34" charset="-122"/>
              </a:rPr>
              <a:t>Motor Driver - TB6612 (4ch PWM, TIMA0)</a:t>
            </a:r>
            <a:endParaRPr lang="zh-CN" altLang="en-US" sz="2200" b="1">
              <a:solidFill>
                <a:srgbClr val="76E600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B94C006-A3D4-A971-7E2F-E41355C63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008164"/>
              </p:ext>
            </p:extLst>
          </p:nvPr>
        </p:nvGraphicFramePr>
        <p:xfrm>
          <a:off x="381000" y="825500"/>
          <a:ext cx="7239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7876602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228202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597557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6799849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176729919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Motor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PWM Ch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IN1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IN2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Direction (forward)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FF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4909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F_L FrontL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PA15 CH2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PA7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PA12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Swapped: IN1=0,IN2=1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6617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F_R FrontR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PB14 CH0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PA13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PA16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Normal: IN1=1,IN2=0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87335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B_L BackL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PB9  CH1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PB16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PA14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Normal: IN1=1,IN2=0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06717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B_R BackR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PA23 CH3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PB13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PB15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Normal: IN1=1,IN2=0</a:t>
                      </a:r>
                      <a:endParaRPr lang="zh-CN" altLang="en-US" sz="1100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1A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78949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EA3E420-09D1-7858-4ADD-DA86D7221B2F}"/>
              </a:ext>
            </a:extLst>
          </p:cNvPr>
          <p:cNvSpPr txBox="1"/>
          <p:nvPr/>
        </p:nvSpPr>
        <p:spPr>
          <a:xfrm>
            <a:off x="381000" y="3302000"/>
            <a:ext cx="1143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FFD200"/>
                </a:solidFill>
                <a:latin typeface="Microsoft YaHei" panose="020B0503020204020204" pitchFamily="34" charset="-122"/>
              </a:rPr>
              <a:t>API: motor_control(left, right)  range -1000 ~ +1000</a:t>
            </a:r>
            <a:endParaRPr lang="zh-CN" altLang="en-US" sz="1500" b="1">
              <a:solidFill>
                <a:srgbClr val="FFD2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321F67-34C3-AEC0-C8CD-84A9C199A426}"/>
              </a:ext>
            </a:extLst>
          </p:cNvPr>
          <p:cNvSpPr txBox="1"/>
          <p:nvPr/>
        </p:nvSpPr>
        <p:spPr>
          <a:xfrm>
            <a:off x="381000" y="3746500"/>
            <a:ext cx="1143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>
                <a:solidFill>
                  <a:srgbClr val="CCCCCC"/>
                </a:solidFill>
                <a:latin typeface="Microsoft YaHei" panose="020B0503020204020204" pitchFamily="34" charset="-122"/>
              </a:rPr>
              <a:t>Left side=F_L+B_L same speed | Right side=F_R+B_R same speed (skid steer)</a:t>
            </a:r>
            <a:endParaRPr lang="zh-CN" altLang="en-US" sz="1300">
              <a:solidFill>
                <a:srgbClr val="CCCC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A428AB-3922-BDD0-1316-198DE0D07750}"/>
              </a:ext>
            </a:extLst>
          </p:cNvPr>
          <p:cNvSpPr/>
          <p:nvPr/>
        </p:nvSpPr>
        <p:spPr>
          <a:xfrm>
            <a:off x="2540000" y="4699000"/>
            <a:ext cx="2159000" cy="635000"/>
          </a:xfrm>
          <a:prstGeom prst="rect">
            <a:avLst/>
          </a:prstGeom>
          <a:solidFill>
            <a:srgbClr val="1A0D0D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195212-0FBA-2788-3B59-C55096A0D970}"/>
              </a:ext>
            </a:extLst>
          </p:cNvPr>
          <p:cNvSpPr txBox="1"/>
          <p:nvPr/>
        </p:nvSpPr>
        <p:spPr>
          <a:xfrm>
            <a:off x="2667000" y="4787900"/>
            <a:ext cx="190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altLang="zh-CN" sz="1000">
                <a:solidFill>
                  <a:srgbClr val="CCCCCC"/>
                </a:solidFill>
                <a:latin typeface="Microsoft YaHei" panose="020B0503020204020204" pitchFamily="34" charset="-122"/>
              </a:rPr>
              <a:t>F_L    FRONT    F_R
L &lt;--      --&gt; R</a:t>
            </a:r>
            <a:endParaRPr lang="zh-CN" altLang="en-US" sz="1000">
              <a:solidFill>
                <a:srgbClr val="CCCC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4C02B7-26CC-1DBA-04CB-4A4129753EE8}"/>
              </a:ext>
            </a:extLst>
          </p:cNvPr>
          <p:cNvSpPr/>
          <p:nvPr/>
        </p:nvSpPr>
        <p:spPr>
          <a:xfrm>
            <a:off x="2540000" y="5588000"/>
            <a:ext cx="2159000" cy="635000"/>
          </a:xfrm>
          <a:prstGeom prst="rect">
            <a:avLst/>
          </a:prstGeom>
          <a:solidFill>
            <a:srgbClr val="1A0D0D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CBCDA1-4D21-3072-722A-CC8CE448E1DC}"/>
              </a:ext>
            </a:extLst>
          </p:cNvPr>
          <p:cNvSpPr txBox="1"/>
          <p:nvPr/>
        </p:nvSpPr>
        <p:spPr>
          <a:xfrm>
            <a:off x="2667000" y="5676900"/>
            <a:ext cx="190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altLang="zh-CN" sz="1000">
                <a:solidFill>
                  <a:srgbClr val="CCCCCC"/>
                </a:solidFill>
                <a:latin typeface="Microsoft YaHei" panose="020B0503020204020204" pitchFamily="34" charset="-122"/>
              </a:rPr>
              <a:t>B_L     REAR    B_R
L &lt;--      --&gt; R</a:t>
            </a:r>
            <a:endParaRPr lang="zh-CN" altLang="en-US" sz="1000">
              <a:solidFill>
                <a:srgbClr val="CCCCCC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287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DB133-CD22-77E4-4987-3BB8E20B83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8E17BE-A256-5C54-8ED2-9BD8BD714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57183B-762F-53D7-6EE6-8C04A67423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60E781-335B-BE9C-1404-7ADF8BD41C4F}"/>
              </a:ext>
            </a:extLst>
          </p:cNvPr>
          <p:cNvSpPr/>
          <p:nvPr/>
        </p:nvSpPr>
        <p:spPr>
          <a:xfrm>
            <a:off x="508000" y="1016000"/>
            <a:ext cx="101600" cy="2540000"/>
          </a:xfrm>
          <a:prstGeom prst="rect">
            <a:avLst/>
          </a:prstGeom>
          <a:solidFill>
            <a:srgbClr val="FFD2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B87732-1E32-ADDB-F9FF-A20D3CB79C66}"/>
              </a:ext>
            </a:extLst>
          </p:cNvPr>
          <p:cNvSpPr txBox="1"/>
          <p:nvPr/>
        </p:nvSpPr>
        <p:spPr>
          <a:xfrm>
            <a:off x="889000" y="1270000"/>
            <a:ext cx="1092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4000" b="1">
                <a:solidFill>
                  <a:srgbClr val="FFFFFF"/>
                </a:solidFill>
                <a:latin typeface="Microsoft YaHei" panose="020B0503020204020204" pitchFamily="34" charset="-122"/>
              </a:rPr>
              <a:t>MSPM0G3507 Pin Map</a:t>
            </a:r>
            <a:endParaRPr lang="zh-CN" altLang="en-US" sz="4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B5F92E-0505-EB49-3C09-3896D7D96844}"/>
              </a:ext>
            </a:extLst>
          </p:cNvPr>
          <p:cNvSpPr txBox="1"/>
          <p:nvPr/>
        </p:nvSpPr>
        <p:spPr>
          <a:xfrm>
            <a:off x="889000" y="21590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200">
                <a:solidFill>
                  <a:srgbClr val="CCCCCC"/>
                </a:solidFill>
                <a:latin typeface="Microsoft YaHei" panose="020B0503020204020204" pitchFamily="34" charset="-122"/>
              </a:rPr>
              <a:t>Amy 64pin 4-Wheel Line-Following Robot</a:t>
            </a:r>
            <a:endParaRPr lang="zh-CN" altLang="en-US" sz="2200">
              <a:solidFill>
                <a:srgbClr val="CCCC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EAD1FA-1E15-A1E5-EE83-A4A4D9EAC02C}"/>
              </a:ext>
            </a:extLst>
          </p:cNvPr>
          <p:cNvSpPr txBox="1"/>
          <p:nvPr/>
        </p:nvSpPr>
        <p:spPr>
          <a:xfrm>
            <a:off x="889000" y="29210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CCCCCC"/>
                </a:solidFill>
                <a:latin typeface="Microsoft YaHei" panose="020B0503020204020204" pitchFamily="34" charset="-122"/>
              </a:rPr>
              <a:t>UART0=Zigbee . UART2=MaixCAM2 . I2C0=OLED . TIMA0=4ch PWM</a:t>
            </a:r>
            <a:endParaRPr lang="zh-CN" altLang="en-US" sz="1400">
              <a:solidFill>
                <a:srgbClr val="CCCC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9B0D29-09BD-124F-0B66-FADAF9DBAD32}"/>
              </a:ext>
            </a:extLst>
          </p:cNvPr>
          <p:cNvSpPr txBox="1"/>
          <p:nvPr/>
        </p:nvSpPr>
        <p:spPr>
          <a:xfrm>
            <a:off x="889000" y="43180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>
                <a:solidFill>
                  <a:srgbClr val="CCCCCC"/>
                </a:solidFill>
                <a:latin typeface="Microsoft YaHei" panose="020B0503020204020204" pitchFamily="34" charset="-122"/>
              </a:rPr>
              <a:t>Electronics-Design | 2025-07</a:t>
            </a:r>
            <a:endParaRPr lang="zh-CN" altLang="en-US" sz="1300">
              <a:solidFill>
                <a:srgbClr val="CCCCCC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5031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宽屏</PresentationFormat>
  <Paragraphs>183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19703370186@163.com</dc:creator>
  <cp:lastModifiedBy>19703370186@163.com</cp:lastModifiedBy>
  <cp:revision>1</cp:revision>
  <dcterms:created xsi:type="dcterms:W3CDTF">2026-07-25T15:32:31Z</dcterms:created>
  <dcterms:modified xsi:type="dcterms:W3CDTF">2026-07-25T15:32:31Z</dcterms:modified>
</cp:coreProperties>
</file>